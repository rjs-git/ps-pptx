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905" y="441655"/>
            <a:ext cx="5486400" cy="16825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000" spc="-50" kern="0" dirty="0">
                <a:solidFill>
                  <a:srgbClr val="E90130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Pattern: SCQA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09905" y="693115"/>
            <a:ext cx="10971886" cy="11064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3800" b="1" spc="-50" kern="0" dirty="0">
                <a:solidFill>
                  <a:srgbClr val="E90130"/>
                </a:solidFill>
                <a:latin typeface="Lexend Deca SemiBold" pitchFamily="34" charset="0"/>
                <a:ea typeface="Lexend Deca SemiBold" pitchFamily="34" charset="-122"/>
                <a:cs typeface="Lexend Deca SemiBold" pitchFamily="34" charset="-120"/>
              </a:rPr>
              <a:t>Three-column SCQA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609905" y="2194560"/>
            <a:ext cx="347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b="1" dirty="0">
                <a:solidFill>
                  <a:srgbClr val="E90130"/>
                </a:solidFill>
                <a:latin typeface="Lexend Deca SemiBold" pitchFamily="34" charset="0"/>
                <a:ea typeface="Lexend Deca SemiBold" pitchFamily="34" charset="-122"/>
                <a:cs typeface="Lexend Deca SemiBold" pitchFamily="34" charset="-120"/>
              </a:rPr>
              <a:t>SITUATION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09905" y="2651760"/>
            <a:ext cx="3474415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spcAft>
                <a:spcPts val="800"/>
              </a:spcAft>
              <a:buNone/>
            </a:pPr>
            <a:r>
              <a:rPr lang="en-US" sz="11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Today, X is happening at scale.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358640" y="2194560"/>
            <a:ext cx="347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b="1" dirty="0">
                <a:solidFill>
                  <a:srgbClr val="E90130"/>
                </a:solidFill>
                <a:latin typeface="Lexend Deca SemiBold" pitchFamily="34" charset="0"/>
                <a:ea typeface="Lexend Deca SemiBold" pitchFamily="34" charset="-122"/>
                <a:cs typeface="Lexend Deca SemiBold" pitchFamily="34" charset="-120"/>
              </a:rPr>
              <a:t>COMPLICATION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358640" y="2651760"/>
            <a:ext cx="3474415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spcAft>
                <a:spcPts val="800"/>
              </a:spcAft>
              <a:buNone/>
            </a:pPr>
            <a:r>
              <a:rPr lang="en-US" sz="11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But existing solutions break under Y.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8107375" y="2194560"/>
            <a:ext cx="347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b="1" dirty="0">
                <a:solidFill>
                  <a:srgbClr val="E90130"/>
                </a:solidFill>
                <a:latin typeface="Lexend Deca SemiBold" pitchFamily="34" charset="0"/>
                <a:ea typeface="Lexend Deca SemiBold" pitchFamily="34" charset="-122"/>
                <a:cs typeface="Lexend Deca SemiBold" pitchFamily="34" charset="-120"/>
              </a:rPr>
              <a:t>QUESTION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107375" y="2651760"/>
            <a:ext cx="3474415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spcAft>
                <a:spcPts val="800"/>
              </a:spcAft>
              <a:buNone/>
            </a:pPr>
            <a:r>
              <a:rPr lang="en-US" sz="11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How can we close the gap?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09905" y="6286500"/>
            <a:ext cx="52989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-50" kern="0" dirty="0">
                <a:solidFill>
                  <a:srgbClr val="E90130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© Publicis Sapient</a:t>
            </a:r>
            <a:pPr indent="0" marL="0">
              <a:buNone/>
            </a:pPr>
            <a:r>
              <a:rPr lang="en-US" sz="800" spc="-50" kern="0" dirty="0">
                <a:solidFill>
                  <a:srgbClr val="E90130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		</a:t>
            </a:r>
            <a:pPr indent="0" marL="0">
              <a:buNone/>
            </a:pPr>
            <a:r>
              <a:rPr lang="en-US" sz="800" spc="-50" kern="0" dirty="0">
                <a:solidFill>
                  <a:srgbClr val="E90130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XX.2026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11007547" y="6286500"/>
            <a:ext cx="5715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-50" kern="0" dirty="0">
                <a:solidFill>
                  <a:srgbClr val="E90130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1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905" y="441655"/>
            <a:ext cx="5486400" cy="16825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000" spc="-50" kern="0" dirty="0">
                <a:solidFill>
                  <a:srgbClr val="E90130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Pattern: 2x2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09905" y="693115"/>
            <a:ext cx="10971886" cy="11064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3600" b="1" spc="-50" kern="0" dirty="0">
                <a:solidFill>
                  <a:srgbClr val="E90130"/>
                </a:solidFill>
                <a:latin typeface="Lexend Deca SemiBold" pitchFamily="34" charset="0"/>
                <a:ea typeface="Lexend Deca SemiBold" pitchFamily="34" charset="-122"/>
                <a:cs typeface="Lexend Deca SemiBold" pitchFamily="34" charset="-120"/>
              </a:rPr>
              <a:t>Capability vs investment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609905" y="2194560"/>
            <a:ext cx="548640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6B6B6B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High capability</a:t>
            </a:r>
            <a:endParaRPr lang="en-US" sz="900" dirty="0"/>
          </a:p>
          <a:p>
            <a:pPr algn="r" indent="0" marL="0">
              <a:lnSpc>
                <a:spcPct val="125000"/>
              </a:lnSpc>
              <a:buNone/>
            </a:pPr>
            <a:endParaRPr lang="en-US" sz="900" dirty="0"/>
          </a:p>
          <a:p>
            <a:pPr algn="r" indent="0" marL="0">
              <a:lnSpc>
                <a:spcPct val="125000"/>
              </a:lnSpc>
              <a:buNone/>
            </a:pPr>
            <a:endParaRPr lang="en-US" sz="900" dirty="0"/>
          </a:p>
          <a:p>
            <a:pPr algn="r" indent="0" marL="0">
              <a:lnSpc>
                <a:spcPct val="125000"/>
              </a:lnSpc>
              <a:buNone/>
            </a:pPr>
            <a:endParaRPr lang="en-US" sz="900" dirty="0"/>
          </a:p>
          <a:p>
            <a:pPr algn="r" indent="0" marL="0">
              <a:lnSpc>
                <a:spcPct val="125000"/>
              </a:lnSpc>
              <a:buNone/>
            </a:pPr>
            <a:endParaRPr lang="en-US" sz="900" dirty="0"/>
          </a:p>
          <a:p>
            <a:pPr algn="r"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6B6B6B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Low capability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249985" y="5715000"/>
            <a:ext cx="1033180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6B6B6B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Low investment                                                                High investment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1249985" y="2194560"/>
            <a:ext cx="5097323" cy="1645920"/>
          </a:xfrm>
          <a:prstGeom prst="rect">
            <a:avLst/>
          </a:prstGeom>
          <a:solidFill>
            <a:srgbClr val="D9D9D9"/>
          </a:solidFill>
          <a:ln w="6350">
            <a:solidFill>
              <a:srgbClr val="6B6B6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432865" y="2331720"/>
            <a:ext cx="4731563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b="1" dirty="0">
                <a:solidFill>
                  <a:srgbClr val="000000"/>
                </a:solidFill>
                <a:latin typeface="Lexend Deca SemiBold" pitchFamily="34" charset="0"/>
                <a:ea typeface="Lexend Deca SemiBold" pitchFamily="34" charset="-122"/>
                <a:cs typeface="Lexend Deca SemiBold" pitchFamily="34" charset="-120"/>
              </a:rPr>
              <a:t>Hidden gems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432865" y="2788920"/>
            <a:ext cx="4731563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spcAft>
                <a:spcPts val="800"/>
              </a:spcAft>
              <a:buNone/>
            </a:pPr>
            <a:r>
              <a:rPr lang="en-US" sz="11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Underfunded but capable.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484468" y="2194560"/>
            <a:ext cx="5097323" cy="1645920"/>
          </a:xfrm>
          <a:prstGeom prst="rect">
            <a:avLst/>
          </a:prstGeom>
          <a:solidFill>
            <a:srgbClr val="FA8C9A"/>
          </a:solidFill>
          <a:ln w="6350">
            <a:solidFill>
              <a:srgbClr val="6B6B6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667348" y="2331720"/>
            <a:ext cx="4731563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b="1" dirty="0">
                <a:solidFill>
                  <a:srgbClr val="000000"/>
                </a:solidFill>
                <a:latin typeface="Lexend Deca SemiBold" pitchFamily="34" charset="0"/>
                <a:ea typeface="Lexend Deca SemiBold" pitchFamily="34" charset="-122"/>
                <a:cs typeface="Lexend Deca SemiBold" pitchFamily="34" charset="-120"/>
              </a:rPr>
              <a:t>Strongholds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667348" y="2788920"/>
            <a:ext cx="4731563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spcAft>
                <a:spcPts val="800"/>
              </a:spcAft>
              <a:buNone/>
            </a:pPr>
            <a:r>
              <a:rPr lang="en-US" sz="11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Well-funded and capable.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1249985" y="3977640"/>
            <a:ext cx="5097323" cy="1645920"/>
          </a:xfrm>
          <a:prstGeom prst="rect">
            <a:avLst/>
          </a:prstGeom>
          <a:solidFill>
            <a:srgbClr val="D9D9D9"/>
          </a:solidFill>
          <a:ln w="6350">
            <a:solidFill>
              <a:srgbClr val="6B6B6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432865" y="4114800"/>
            <a:ext cx="4731563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b="1" dirty="0">
                <a:solidFill>
                  <a:srgbClr val="000000"/>
                </a:solidFill>
                <a:latin typeface="Lexend Deca SemiBold" pitchFamily="34" charset="0"/>
                <a:ea typeface="Lexend Deca SemiBold" pitchFamily="34" charset="-122"/>
                <a:cs typeface="Lexend Deca SemiBold" pitchFamily="34" charset="-120"/>
              </a:rPr>
              <a:t>Cut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432865" y="4572000"/>
            <a:ext cx="4731563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spcAft>
                <a:spcPts val="800"/>
              </a:spcAft>
              <a:buNone/>
            </a:pPr>
            <a:r>
              <a:rPr lang="en-US" sz="11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Underfunded and weak.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484468" y="3977640"/>
            <a:ext cx="5097323" cy="1645920"/>
          </a:xfrm>
          <a:prstGeom prst="rect">
            <a:avLst/>
          </a:prstGeom>
          <a:solidFill>
            <a:srgbClr val="D9D9D9"/>
          </a:solidFill>
          <a:ln w="6350">
            <a:solidFill>
              <a:srgbClr val="6B6B6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667348" y="4114800"/>
            <a:ext cx="4731563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b="1" dirty="0">
                <a:solidFill>
                  <a:srgbClr val="000000"/>
                </a:solidFill>
                <a:latin typeface="Lexend Deca SemiBold" pitchFamily="34" charset="0"/>
                <a:ea typeface="Lexend Deca SemiBold" pitchFamily="34" charset="-122"/>
                <a:cs typeface="Lexend Deca SemiBold" pitchFamily="34" charset="-120"/>
              </a:rPr>
              <a:t>Risky bets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667348" y="4572000"/>
            <a:ext cx="4731563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spcAft>
                <a:spcPts val="800"/>
              </a:spcAft>
              <a:buNone/>
            </a:pPr>
            <a:r>
              <a:rPr lang="en-US" sz="11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Heavily funded but unproven.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09905" y="6286500"/>
            <a:ext cx="52989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-50" kern="0" dirty="0">
                <a:solidFill>
                  <a:srgbClr val="E90130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© Publicis Sapient</a:t>
            </a:r>
            <a:pPr indent="0" marL="0">
              <a:buNone/>
            </a:pPr>
            <a:r>
              <a:rPr lang="en-US" sz="800" spc="-50" kern="0" dirty="0">
                <a:solidFill>
                  <a:srgbClr val="E90130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		</a:t>
            </a:r>
            <a:pPr indent="0" marL="0">
              <a:buNone/>
            </a:pPr>
            <a:r>
              <a:rPr lang="en-US" sz="800" spc="-50" kern="0" dirty="0">
                <a:solidFill>
                  <a:srgbClr val="E90130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XX.2026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11007547" y="6286500"/>
            <a:ext cx="5715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-50" kern="0" dirty="0">
                <a:solidFill>
                  <a:srgbClr val="E90130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2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905" y="441655"/>
            <a:ext cx="5486400" cy="16825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000" spc="-50" kern="0" dirty="0">
                <a:solidFill>
                  <a:srgbClr val="E90130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Pattern: KPI tree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09905" y="693115"/>
            <a:ext cx="10971886" cy="11064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3600" b="1" spc="-50" kern="0" dirty="0">
                <a:solidFill>
                  <a:srgbClr val="E90130"/>
                </a:solidFill>
                <a:latin typeface="Lexend Deca SemiBold" pitchFamily="34" charset="0"/>
                <a:ea typeface="Lexend Deca SemiBold" pitchFamily="34" charset="-122"/>
                <a:cs typeface="Lexend Deca SemiBold" pitchFamily="34" charset="-120"/>
              </a:rPr>
              <a:t>Q4 results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609905" y="2103120"/>
            <a:ext cx="1097188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7200" b="1" dirty="0">
                <a:solidFill>
                  <a:srgbClr val="E90130"/>
                </a:solidFill>
                <a:latin typeface="Lexend Deca SemiBold" pitchFamily="34" charset="0"/>
                <a:ea typeface="Lexend Deca SemiBold" pitchFamily="34" charset="-122"/>
                <a:cs typeface="Lexend Deca SemiBold" pitchFamily="34" charset="-120"/>
              </a:rPr>
              <a:t>$42M</a:t>
            </a:r>
            <a:endParaRPr lang="en-US" sz="7200" dirty="0"/>
          </a:p>
        </p:txBody>
      </p:sp>
      <p:sp>
        <p:nvSpPr>
          <p:cNvPr id="5" name="Text 3"/>
          <p:cNvSpPr/>
          <p:nvPr/>
        </p:nvSpPr>
        <p:spPr>
          <a:xfrm>
            <a:off x="609905" y="3017520"/>
            <a:ext cx="1097188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6B6B6B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Total revenue (+18% YoY)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09905" y="4023360"/>
            <a:ext cx="2537231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3800" b="1" dirty="0">
                <a:solidFill>
                  <a:srgbClr val="000000"/>
                </a:solidFill>
                <a:latin typeface="Lexend Deca SemiBold" pitchFamily="34" charset="0"/>
                <a:ea typeface="Lexend Deca SemiBold" pitchFamily="34" charset="-122"/>
                <a:cs typeface="Lexend Deca SemiBold" pitchFamily="34" charset="-120"/>
              </a:rPr>
              <a:t>+24%</a:t>
            </a:r>
            <a:endParaRPr lang="en-US" sz="3800" dirty="0"/>
          </a:p>
        </p:txBody>
      </p:sp>
      <p:sp>
        <p:nvSpPr>
          <p:cNvPr id="7" name="Text 5"/>
          <p:cNvSpPr/>
          <p:nvPr/>
        </p:nvSpPr>
        <p:spPr>
          <a:xfrm>
            <a:off x="609905" y="5166360"/>
            <a:ext cx="2537231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6B6B6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New ARR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421456" y="4023360"/>
            <a:ext cx="2537231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3800" b="1" dirty="0">
                <a:solidFill>
                  <a:srgbClr val="000000"/>
                </a:solidFill>
                <a:latin typeface="Lexend Deca SemiBold" pitchFamily="34" charset="0"/>
                <a:ea typeface="Lexend Deca SemiBold" pitchFamily="34" charset="-122"/>
                <a:cs typeface="Lexend Deca SemiBold" pitchFamily="34" charset="-120"/>
              </a:rPr>
              <a:t>92%</a:t>
            </a:r>
            <a:endParaRPr lang="en-US" sz="3800" dirty="0"/>
          </a:p>
        </p:txBody>
      </p:sp>
      <p:sp>
        <p:nvSpPr>
          <p:cNvPr id="9" name="Text 7"/>
          <p:cNvSpPr/>
          <p:nvPr/>
        </p:nvSpPr>
        <p:spPr>
          <a:xfrm>
            <a:off x="3421456" y="5166360"/>
            <a:ext cx="2537231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6B6B6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Gross retention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233008" y="4023360"/>
            <a:ext cx="2537231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3800" b="1" dirty="0">
                <a:solidFill>
                  <a:srgbClr val="000000"/>
                </a:solidFill>
                <a:latin typeface="Lexend Deca SemiBold" pitchFamily="34" charset="0"/>
                <a:ea typeface="Lexend Deca SemiBold" pitchFamily="34" charset="-122"/>
                <a:cs typeface="Lexend Deca SemiBold" pitchFamily="34" charset="-120"/>
              </a:rPr>
              <a:t>1.4×</a:t>
            </a:r>
            <a:endParaRPr lang="en-US" sz="3800" dirty="0"/>
          </a:p>
        </p:txBody>
      </p:sp>
      <p:sp>
        <p:nvSpPr>
          <p:cNvPr id="11" name="Text 9"/>
          <p:cNvSpPr/>
          <p:nvPr/>
        </p:nvSpPr>
        <p:spPr>
          <a:xfrm>
            <a:off x="6233008" y="5166360"/>
            <a:ext cx="2537231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6B6B6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Net dollar retention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9044559" y="4023360"/>
            <a:ext cx="2537231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3800" b="1" dirty="0">
                <a:solidFill>
                  <a:srgbClr val="000000"/>
                </a:solidFill>
                <a:latin typeface="Lexend Deca SemiBold" pitchFamily="34" charset="0"/>
                <a:ea typeface="Lexend Deca SemiBold" pitchFamily="34" charset="-122"/>
                <a:cs typeface="Lexend Deca SemiBold" pitchFamily="34" charset="-120"/>
              </a:rPr>
              <a:t>11d</a:t>
            </a:r>
            <a:endParaRPr lang="en-US" sz="3800" dirty="0"/>
          </a:p>
        </p:txBody>
      </p:sp>
      <p:sp>
        <p:nvSpPr>
          <p:cNvPr id="13" name="Text 11"/>
          <p:cNvSpPr/>
          <p:nvPr/>
        </p:nvSpPr>
        <p:spPr>
          <a:xfrm>
            <a:off x="9044559" y="5166360"/>
            <a:ext cx="2537231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6B6B6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Median deal cycle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09905" y="6286500"/>
            <a:ext cx="52989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-50" kern="0" dirty="0">
                <a:solidFill>
                  <a:srgbClr val="E90130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© Publicis Sapient</a:t>
            </a:r>
            <a:pPr indent="0" marL="0">
              <a:buNone/>
            </a:pPr>
            <a:r>
              <a:rPr lang="en-US" sz="800" spc="-50" kern="0" dirty="0">
                <a:solidFill>
                  <a:srgbClr val="E90130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		</a:t>
            </a:r>
            <a:pPr indent="0" marL="0">
              <a:buNone/>
            </a:pPr>
            <a:r>
              <a:rPr lang="en-US" sz="800" spc="-50" kern="0" dirty="0">
                <a:solidFill>
                  <a:srgbClr val="E90130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XX.2026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11007547" y="6286500"/>
            <a:ext cx="5715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-50" kern="0" dirty="0">
                <a:solidFill>
                  <a:srgbClr val="E90130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3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905" y="441655"/>
            <a:ext cx="5486400" cy="16825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000" spc="-50" kern="0" dirty="0">
                <a:solidFill>
                  <a:srgbClr val="E90130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Pattern: before/after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09905" y="693115"/>
            <a:ext cx="10971886" cy="11064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3600" b="1" spc="-50" kern="0" dirty="0">
                <a:solidFill>
                  <a:srgbClr val="E90130"/>
                </a:solidFill>
                <a:latin typeface="Lexend Deca SemiBold" pitchFamily="34" charset="0"/>
                <a:ea typeface="Lexend Deca SemiBold" pitchFamily="34" charset="-122"/>
                <a:cs typeface="Lexend Deca SemiBold" pitchFamily="34" charset="-120"/>
              </a:rPr>
              <a:t>What changes for the analyst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609905" y="2194560"/>
            <a:ext cx="5303063" cy="3840480"/>
          </a:xfrm>
          <a:prstGeom prst="rect">
            <a:avLst/>
          </a:prstGeom>
          <a:solidFill>
            <a:srgbClr val="D9D9D9"/>
          </a:solidFill>
          <a:ln/>
        </p:spPr>
      </p:sp>
      <p:sp>
        <p:nvSpPr>
          <p:cNvPr id="5" name="Text 3"/>
          <p:cNvSpPr/>
          <p:nvPr/>
        </p:nvSpPr>
        <p:spPr>
          <a:xfrm>
            <a:off x="792785" y="2377440"/>
            <a:ext cx="4937303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b="1" dirty="0">
                <a:solidFill>
                  <a:srgbClr val="6B6B6B"/>
                </a:solidFill>
                <a:latin typeface="Lexend Deca SemiBold" pitchFamily="34" charset="0"/>
                <a:ea typeface="Lexend Deca SemiBold" pitchFamily="34" charset="-122"/>
                <a:cs typeface="Lexend Deca SemiBold" pitchFamily="34" charset="-120"/>
              </a:rPr>
              <a:t>BEFORE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92785" y="2880360"/>
            <a:ext cx="4937303" cy="2971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spcAft>
                <a:spcPts val="800"/>
              </a:spcAft>
              <a:buNone/>
            </a:pPr>
            <a:r>
              <a:rPr lang="en-US" sz="11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• 6h to compile a weekly report</a:t>
            </a:r>
            <a:endParaRPr lang="en-US" sz="1100" dirty="0"/>
          </a:p>
          <a:p>
            <a:pPr indent="0" marL="0">
              <a:lnSpc>
                <a:spcPct val="125000"/>
              </a:lnSpc>
              <a:spcAft>
                <a:spcPts val="800"/>
              </a:spcAft>
              <a:buNone/>
            </a:pPr>
            <a:r>
              <a:rPr lang="en-US" sz="11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• 3 separate dashboards</a:t>
            </a:r>
            <a:endParaRPr lang="en-US" sz="1100" dirty="0"/>
          </a:p>
          <a:p>
            <a:pPr indent="0" marL="0">
              <a:lnSpc>
                <a:spcPct val="125000"/>
              </a:lnSpc>
              <a:spcAft>
                <a:spcPts val="800"/>
              </a:spcAft>
              <a:buNone/>
            </a:pPr>
            <a:r>
              <a:rPr lang="en-US" sz="11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• Manual QA on every export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461608" y="2377440"/>
            <a:ext cx="4937303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b="1" dirty="0">
                <a:solidFill>
                  <a:srgbClr val="E90130"/>
                </a:solidFill>
                <a:latin typeface="Lexend Deca SemiBold" pitchFamily="34" charset="0"/>
                <a:ea typeface="Lexend Deca SemiBold" pitchFamily="34" charset="-122"/>
                <a:cs typeface="Lexend Deca SemiBold" pitchFamily="34" charset="-120"/>
              </a:rPr>
              <a:t>AFTER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461608" y="2880360"/>
            <a:ext cx="4937303" cy="2971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spcAft>
                <a:spcPts val="800"/>
              </a:spcAft>
              <a:buNone/>
            </a:pPr>
            <a:r>
              <a:rPr lang="en-US" sz="11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• 20-minute self-service report</a:t>
            </a:r>
            <a:endParaRPr lang="en-US" sz="1100" dirty="0"/>
          </a:p>
          <a:p>
            <a:pPr indent="0" marL="0">
              <a:lnSpc>
                <a:spcPct val="125000"/>
              </a:lnSpc>
              <a:spcAft>
                <a:spcPts val="800"/>
              </a:spcAft>
              <a:buNone/>
            </a:pPr>
            <a:r>
              <a:rPr lang="en-US" sz="11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• 1 unified workspace</a:t>
            </a:r>
            <a:endParaRPr lang="en-US" sz="1100" dirty="0"/>
          </a:p>
          <a:p>
            <a:pPr indent="0" marL="0">
              <a:lnSpc>
                <a:spcPct val="125000"/>
              </a:lnSpc>
              <a:spcAft>
                <a:spcPts val="800"/>
              </a:spcAft>
              <a:buNone/>
            </a:pPr>
            <a:r>
              <a:rPr lang="en-US" sz="11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• Auto-validation in pipeline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09905" y="6286500"/>
            <a:ext cx="52989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-50" kern="0" dirty="0">
                <a:solidFill>
                  <a:srgbClr val="E90130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© Publicis Sapient</a:t>
            </a:r>
            <a:pPr indent="0" marL="0">
              <a:buNone/>
            </a:pPr>
            <a:r>
              <a:rPr lang="en-US" sz="800" spc="-50" kern="0" dirty="0">
                <a:solidFill>
                  <a:srgbClr val="E90130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		</a:t>
            </a:r>
            <a:pPr indent="0" marL="0">
              <a:buNone/>
            </a:pPr>
            <a:r>
              <a:rPr lang="en-US" sz="800" spc="-50" kern="0" dirty="0">
                <a:solidFill>
                  <a:srgbClr val="E90130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XX.2026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11007547" y="6286500"/>
            <a:ext cx="5715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-50" kern="0" dirty="0">
                <a:solidFill>
                  <a:srgbClr val="E90130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4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905" y="441655"/>
            <a:ext cx="5486400" cy="16825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000" spc="-50" kern="0" dirty="0">
                <a:solidFill>
                  <a:srgbClr val="E90130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Pattern: journey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09905" y="693115"/>
            <a:ext cx="10971886" cy="11064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3600" b="1" spc="-50" kern="0" dirty="0">
                <a:solidFill>
                  <a:srgbClr val="E90130"/>
                </a:solidFill>
                <a:latin typeface="Lexend Deca SemiBold" pitchFamily="34" charset="0"/>
                <a:ea typeface="Lexend Deca SemiBold" pitchFamily="34" charset="-122"/>
                <a:cs typeface="Lexend Deca SemiBold" pitchFamily="34" charset="-120"/>
              </a:rPr>
              <a:t>End-to-end onboarding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1067105" y="3319272"/>
            <a:ext cx="10057486" cy="36576"/>
          </a:xfrm>
          <a:prstGeom prst="rect">
            <a:avLst/>
          </a:prstGeom>
          <a:solidFill>
            <a:srgbClr val="D9D9D9"/>
          </a:solidFill>
          <a:ln/>
        </p:spPr>
      </p:sp>
      <p:sp>
        <p:nvSpPr>
          <p:cNvPr id="5" name="Text 3"/>
          <p:cNvSpPr/>
          <p:nvPr/>
        </p:nvSpPr>
        <p:spPr>
          <a:xfrm>
            <a:off x="609905" y="2377440"/>
            <a:ext cx="2048073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Lexend Deca SemiBold" pitchFamily="34" charset="0"/>
                <a:ea typeface="Lexend Deca SemiBold" pitchFamily="34" charset="-122"/>
                <a:cs typeface="Lexend Deca SemiBold" pitchFamily="34" charset="-120"/>
              </a:rPr>
              <a:t>Sign up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1222461" y="2926080"/>
            <a:ext cx="822960" cy="822960"/>
          </a:xfrm>
          <a:prstGeom prst="ellipse">
            <a:avLst/>
          </a:prstGeom>
          <a:solidFill>
            <a:srgbClr val="E90130"/>
          </a:solidFill>
          <a:ln/>
        </p:spPr>
      </p:sp>
      <p:sp>
        <p:nvSpPr>
          <p:cNvPr id="7" name="Text 5"/>
          <p:cNvSpPr/>
          <p:nvPr/>
        </p:nvSpPr>
        <p:spPr>
          <a:xfrm>
            <a:off x="1222461" y="292608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Lexend Deca SemiBold" pitchFamily="34" charset="0"/>
                <a:ea typeface="Lexend Deca SemiBold" pitchFamily="34" charset="-122"/>
                <a:cs typeface="Lexend Deca SemiBold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09905" y="3886200"/>
            <a:ext cx="2048073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6B6B6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Email + SSO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2840858" y="2377440"/>
            <a:ext cx="2048073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Lexend Deca SemiBold" pitchFamily="34" charset="0"/>
                <a:ea typeface="Lexend Deca SemiBold" pitchFamily="34" charset="-122"/>
                <a:cs typeface="Lexend Deca SemiBold" pitchFamily="34" charset="-120"/>
              </a:rPr>
              <a:t>Configure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453414" y="2926080"/>
            <a:ext cx="822960" cy="822960"/>
          </a:xfrm>
          <a:prstGeom prst="ellipse">
            <a:avLst/>
          </a:prstGeom>
          <a:solidFill>
            <a:srgbClr val="E90130"/>
          </a:solidFill>
          <a:ln/>
        </p:spPr>
      </p:sp>
      <p:sp>
        <p:nvSpPr>
          <p:cNvPr id="11" name="Text 9"/>
          <p:cNvSpPr/>
          <p:nvPr/>
        </p:nvSpPr>
        <p:spPr>
          <a:xfrm>
            <a:off x="3453414" y="292608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Lexend Deca SemiBold" pitchFamily="34" charset="0"/>
                <a:ea typeface="Lexend Deca SemiBold" pitchFamily="34" charset="-122"/>
                <a:cs typeface="Lexend Deca SemiBold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2840858" y="3886200"/>
            <a:ext cx="2048073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6B6B6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Pick workspace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071811" y="2377440"/>
            <a:ext cx="2048073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Lexend Deca SemiBold" pitchFamily="34" charset="0"/>
                <a:ea typeface="Lexend Deca SemiBold" pitchFamily="34" charset="-122"/>
                <a:cs typeface="Lexend Deca SemiBold" pitchFamily="34" charset="-120"/>
              </a:rPr>
              <a:t>Invite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684368" y="2926080"/>
            <a:ext cx="822960" cy="822960"/>
          </a:xfrm>
          <a:prstGeom prst="ellipse">
            <a:avLst/>
          </a:prstGeom>
          <a:solidFill>
            <a:srgbClr val="E90130"/>
          </a:solidFill>
          <a:ln/>
        </p:spPr>
      </p:sp>
      <p:sp>
        <p:nvSpPr>
          <p:cNvPr id="15" name="Text 13"/>
          <p:cNvSpPr/>
          <p:nvPr/>
        </p:nvSpPr>
        <p:spPr>
          <a:xfrm>
            <a:off x="5684368" y="292608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Lexend Deca SemiBold" pitchFamily="34" charset="0"/>
                <a:ea typeface="Lexend Deca SemiBold" pitchFamily="34" charset="-122"/>
                <a:cs typeface="Lexend Deca SemiBold" pitchFamily="34" charset="-120"/>
              </a:rPr>
              <a:t>3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5071811" y="3886200"/>
            <a:ext cx="2048073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6B6B6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Add teammates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7302764" y="2377440"/>
            <a:ext cx="2048073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Lexend Deca SemiBold" pitchFamily="34" charset="0"/>
                <a:ea typeface="Lexend Deca SemiBold" pitchFamily="34" charset="-122"/>
                <a:cs typeface="Lexend Deca SemiBold" pitchFamily="34" charset="-120"/>
              </a:rPr>
              <a:t>Launch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7915321" y="2926080"/>
            <a:ext cx="822960" cy="822960"/>
          </a:xfrm>
          <a:prstGeom prst="ellipse">
            <a:avLst/>
          </a:prstGeom>
          <a:solidFill>
            <a:srgbClr val="E90130"/>
          </a:solidFill>
          <a:ln/>
        </p:spPr>
      </p:sp>
      <p:sp>
        <p:nvSpPr>
          <p:cNvPr id="19" name="Text 17"/>
          <p:cNvSpPr/>
          <p:nvPr/>
        </p:nvSpPr>
        <p:spPr>
          <a:xfrm>
            <a:off x="7915321" y="292608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Lexend Deca SemiBold" pitchFamily="34" charset="0"/>
                <a:ea typeface="Lexend Deca SemiBold" pitchFamily="34" charset="-122"/>
                <a:cs typeface="Lexend Deca SemiBold" pitchFamily="34" charset="-120"/>
              </a:rPr>
              <a:t>4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7302764" y="3886200"/>
            <a:ext cx="2048073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6B6B6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First report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9533717" y="2377440"/>
            <a:ext cx="2048073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Lexend Deca SemiBold" pitchFamily="34" charset="0"/>
                <a:ea typeface="Lexend Deca SemiBold" pitchFamily="34" charset="-122"/>
                <a:cs typeface="Lexend Deca SemiBold" pitchFamily="34" charset="-120"/>
              </a:rPr>
              <a:t>Expand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10146274" y="2926080"/>
            <a:ext cx="822960" cy="822960"/>
          </a:xfrm>
          <a:prstGeom prst="ellipse">
            <a:avLst/>
          </a:prstGeom>
          <a:solidFill>
            <a:srgbClr val="E90130"/>
          </a:solidFill>
          <a:ln/>
        </p:spPr>
      </p:sp>
      <p:sp>
        <p:nvSpPr>
          <p:cNvPr id="23" name="Text 21"/>
          <p:cNvSpPr/>
          <p:nvPr/>
        </p:nvSpPr>
        <p:spPr>
          <a:xfrm>
            <a:off x="10146274" y="292608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Lexend Deca SemiBold" pitchFamily="34" charset="0"/>
                <a:ea typeface="Lexend Deca SemiBold" pitchFamily="34" charset="-122"/>
                <a:cs typeface="Lexend Deca SemiBold" pitchFamily="34" charset="-120"/>
              </a:rPr>
              <a:t>5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9533717" y="3886200"/>
            <a:ext cx="2048073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6B6B6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Connect data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609905" y="6286500"/>
            <a:ext cx="52989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-50" kern="0" dirty="0">
                <a:solidFill>
                  <a:srgbClr val="E90130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© Publicis Sapient</a:t>
            </a:r>
            <a:pPr indent="0" marL="0">
              <a:buNone/>
            </a:pPr>
            <a:r>
              <a:rPr lang="en-US" sz="800" spc="-50" kern="0" dirty="0">
                <a:solidFill>
                  <a:srgbClr val="E90130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		</a:t>
            </a:r>
            <a:pPr indent="0" marL="0">
              <a:buNone/>
            </a:pPr>
            <a:r>
              <a:rPr lang="en-US" sz="800" spc="-50" kern="0" dirty="0">
                <a:solidFill>
                  <a:srgbClr val="E90130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XX.2026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11007547" y="6286500"/>
            <a:ext cx="5715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-50" kern="0" dirty="0">
                <a:solidFill>
                  <a:srgbClr val="E90130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5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905" y="441655"/>
            <a:ext cx="5486400" cy="16825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000" spc="-50" kern="0" dirty="0">
                <a:solidFill>
                  <a:srgbClr val="E90130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Pattern: heatmap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09905" y="693115"/>
            <a:ext cx="10971886" cy="11064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3600" b="1" spc="-50" kern="0" dirty="0">
                <a:solidFill>
                  <a:srgbClr val="E90130"/>
                </a:solidFill>
                <a:latin typeface="Lexend Deca SemiBold" pitchFamily="34" charset="0"/>
                <a:ea typeface="Lexend Deca SemiBold" pitchFamily="34" charset="-122"/>
                <a:cs typeface="Lexend Deca SemiBold" pitchFamily="34" charset="-120"/>
              </a:rPr>
              <a:t>Capability maturity by quarter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2255825" y="2194560"/>
            <a:ext cx="233149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6B6B6B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Q1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87316" y="2194560"/>
            <a:ext cx="233149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6B6B6B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Q2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6918808" y="2194560"/>
            <a:ext cx="233149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6B6B6B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Q3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9250299" y="2194560"/>
            <a:ext cx="233149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6B6B6B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Q4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09905" y="2560320"/>
            <a:ext cx="1508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Lexend Deca SemiBold" pitchFamily="34" charset="0"/>
                <a:ea typeface="Lexend Deca SemiBold" pitchFamily="34" charset="-122"/>
                <a:cs typeface="Lexend Deca SemiBold" pitchFamily="34" charset="-120"/>
              </a:rPr>
              <a:t>Discovery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09905" y="3383280"/>
            <a:ext cx="1508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Lexend Deca SemiBold" pitchFamily="34" charset="0"/>
                <a:ea typeface="Lexend Deca SemiBold" pitchFamily="34" charset="-122"/>
                <a:cs typeface="Lexend Deca SemiBold" pitchFamily="34" charset="-120"/>
              </a:rPr>
              <a:t>Build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09905" y="4206240"/>
            <a:ext cx="1508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Lexend Deca SemiBold" pitchFamily="34" charset="0"/>
                <a:ea typeface="Lexend Deca SemiBold" pitchFamily="34" charset="-122"/>
                <a:cs typeface="Lexend Deca SemiBold" pitchFamily="34" charset="-120"/>
              </a:rPr>
              <a:t>Launch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09905" y="5029200"/>
            <a:ext cx="1508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Lexend Deca SemiBold" pitchFamily="34" charset="0"/>
                <a:ea typeface="Lexend Deca SemiBold" pitchFamily="34" charset="-122"/>
                <a:cs typeface="Lexend Deca SemiBold" pitchFamily="34" charset="-120"/>
              </a:rPr>
              <a:t>Scale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255825" y="2560320"/>
            <a:ext cx="2297201" cy="788670"/>
          </a:xfrm>
          <a:prstGeom prst="rect">
            <a:avLst/>
          </a:prstGeom>
          <a:solidFill>
            <a:srgbClr val="E90130"/>
          </a:solidFill>
          <a:ln w="6350">
            <a:solidFill>
              <a:srgbClr val="6B6B6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98746" y="2560320"/>
            <a:ext cx="2297201" cy="788670"/>
          </a:xfrm>
          <a:prstGeom prst="rect">
            <a:avLst/>
          </a:prstGeom>
          <a:solidFill>
            <a:srgbClr val="E90130"/>
          </a:solidFill>
          <a:ln w="6350">
            <a:solidFill>
              <a:srgbClr val="6B6B6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941668" y="2560320"/>
            <a:ext cx="2297201" cy="788670"/>
          </a:xfrm>
          <a:prstGeom prst="rect">
            <a:avLst/>
          </a:prstGeom>
          <a:solidFill>
            <a:srgbClr val="E90130"/>
          </a:solidFill>
          <a:ln w="6350">
            <a:solidFill>
              <a:srgbClr val="6B6B6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284589" y="2560320"/>
            <a:ext cx="2297201" cy="788670"/>
          </a:xfrm>
          <a:prstGeom prst="rect">
            <a:avLst/>
          </a:prstGeom>
          <a:solidFill>
            <a:srgbClr val="FA8C9A"/>
          </a:solidFill>
          <a:ln w="6350">
            <a:solidFill>
              <a:srgbClr val="6B6B6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255825" y="3394710"/>
            <a:ext cx="2297201" cy="788670"/>
          </a:xfrm>
          <a:prstGeom prst="rect">
            <a:avLst/>
          </a:prstGeom>
          <a:solidFill>
            <a:srgbClr val="FA8C9A"/>
          </a:solidFill>
          <a:ln w="6350">
            <a:solidFill>
              <a:srgbClr val="6B6B6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598746" y="3394710"/>
            <a:ext cx="2297201" cy="788670"/>
          </a:xfrm>
          <a:prstGeom prst="rect">
            <a:avLst/>
          </a:prstGeom>
          <a:solidFill>
            <a:srgbClr val="FA8C9A"/>
          </a:solidFill>
          <a:ln w="6350">
            <a:solidFill>
              <a:srgbClr val="6B6B6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941668" y="3394710"/>
            <a:ext cx="2297201" cy="788670"/>
          </a:xfrm>
          <a:prstGeom prst="rect">
            <a:avLst/>
          </a:prstGeom>
          <a:solidFill>
            <a:srgbClr val="E90130"/>
          </a:solidFill>
          <a:ln w="6350">
            <a:solidFill>
              <a:srgbClr val="6B6B6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284589" y="3394710"/>
            <a:ext cx="2297201" cy="788670"/>
          </a:xfrm>
          <a:prstGeom prst="rect">
            <a:avLst/>
          </a:prstGeom>
          <a:solidFill>
            <a:srgbClr val="E90130"/>
          </a:solidFill>
          <a:ln w="6350">
            <a:solidFill>
              <a:srgbClr val="6B6B6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255825" y="4229100"/>
            <a:ext cx="2297201" cy="788670"/>
          </a:xfrm>
          <a:prstGeom prst="rect">
            <a:avLst/>
          </a:prstGeom>
          <a:solidFill>
            <a:srgbClr val="D9D9D9"/>
          </a:solidFill>
          <a:ln w="6350">
            <a:solidFill>
              <a:srgbClr val="6B6B6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598746" y="4229100"/>
            <a:ext cx="2297201" cy="788670"/>
          </a:xfrm>
          <a:prstGeom prst="rect">
            <a:avLst/>
          </a:prstGeom>
          <a:solidFill>
            <a:srgbClr val="D9D9D9"/>
          </a:solidFill>
          <a:ln w="6350">
            <a:solidFill>
              <a:srgbClr val="6B6B6B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941668" y="4229100"/>
            <a:ext cx="2297201" cy="788670"/>
          </a:xfrm>
          <a:prstGeom prst="rect">
            <a:avLst/>
          </a:prstGeom>
          <a:solidFill>
            <a:srgbClr val="FA8C9A"/>
          </a:solidFill>
          <a:ln w="6350">
            <a:solidFill>
              <a:srgbClr val="6B6B6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9284589" y="4229100"/>
            <a:ext cx="2297201" cy="788670"/>
          </a:xfrm>
          <a:prstGeom prst="rect">
            <a:avLst/>
          </a:prstGeom>
          <a:solidFill>
            <a:srgbClr val="FA8C9A"/>
          </a:solidFill>
          <a:ln w="6350">
            <a:solidFill>
              <a:srgbClr val="6B6B6B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255825" y="5063490"/>
            <a:ext cx="2297201" cy="788670"/>
          </a:xfrm>
          <a:prstGeom prst="rect">
            <a:avLst/>
          </a:prstGeom>
          <a:solidFill>
            <a:srgbClr val="FFFFFF"/>
          </a:solidFill>
          <a:ln w="6350">
            <a:solidFill>
              <a:srgbClr val="6B6B6B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598746" y="5063490"/>
            <a:ext cx="2297201" cy="788670"/>
          </a:xfrm>
          <a:prstGeom prst="rect">
            <a:avLst/>
          </a:prstGeom>
          <a:solidFill>
            <a:srgbClr val="D9D9D9"/>
          </a:solidFill>
          <a:ln w="6350">
            <a:solidFill>
              <a:srgbClr val="6B6B6B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941668" y="5063490"/>
            <a:ext cx="2297201" cy="788670"/>
          </a:xfrm>
          <a:prstGeom prst="rect">
            <a:avLst/>
          </a:prstGeom>
          <a:solidFill>
            <a:srgbClr val="D9D9D9"/>
          </a:solidFill>
          <a:ln w="6350">
            <a:solidFill>
              <a:srgbClr val="6B6B6B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9284589" y="5063490"/>
            <a:ext cx="2297201" cy="788670"/>
          </a:xfrm>
          <a:prstGeom prst="rect">
            <a:avLst/>
          </a:prstGeom>
          <a:solidFill>
            <a:srgbClr val="FA8C9A"/>
          </a:solidFill>
          <a:ln w="6350">
            <a:solidFill>
              <a:srgbClr val="6B6B6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09905" y="6286500"/>
            <a:ext cx="52989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-50" kern="0" dirty="0">
                <a:solidFill>
                  <a:srgbClr val="E90130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© Publicis Sapient</a:t>
            </a:r>
            <a:pPr indent="0" marL="0">
              <a:buNone/>
            </a:pPr>
            <a:r>
              <a:rPr lang="en-US" sz="800" spc="-50" kern="0" dirty="0">
                <a:solidFill>
                  <a:srgbClr val="E90130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		</a:t>
            </a:r>
            <a:pPr indent="0" marL="0">
              <a:buNone/>
            </a:pPr>
            <a:r>
              <a:rPr lang="en-US" sz="800" spc="-50" kern="0" dirty="0">
                <a:solidFill>
                  <a:srgbClr val="E90130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XX.2026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11007547" y="6286500"/>
            <a:ext cx="5715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-50" kern="0" dirty="0">
                <a:solidFill>
                  <a:srgbClr val="E90130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6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2026-05-16T17:42:14Z</dcterms:created>
  <dcterms:modified xsi:type="dcterms:W3CDTF">2026-05-16T17:42:14Z</dcterms:modified>
</cp:coreProperties>
</file>